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3" r:id="rId2"/>
    <p:sldId id="405" r:id="rId3"/>
  </p:sldIdLst>
  <p:sldSz cx="9144000" cy="5143500" type="screen16x9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AED76C4-2A7B-458B-AE96-FB53752F1A1D}">
          <p14:sldIdLst>
            <p14:sldId id="403"/>
            <p14:sldId id="4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496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胡慧超" initials="胡慧超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25C"/>
    <a:srgbClr val="0F14BC"/>
    <a:srgbClr val="0F1ABC"/>
    <a:srgbClr val="141EBC"/>
    <a:srgbClr val="0917BA"/>
    <a:srgbClr val="3680F2"/>
    <a:srgbClr val="00025D"/>
    <a:srgbClr val="5A5AFF"/>
    <a:srgbClr val="35AA54"/>
    <a:srgbClr val="FB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1682" autoAdjust="0"/>
  </p:normalViewPr>
  <p:slideViewPr>
    <p:cSldViewPr showGuides="1">
      <p:cViewPr varScale="1">
        <p:scale>
          <a:sx n="116" d="100"/>
          <a:sy n="116" d="100"/>
        </p:scale>
        <p:origin x="384" y="72"/>
      </p:cViewPr>
      <p:guideLst>
        <p:guide orient="horz" pos="1496"/>
        <p:guide pos="28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E4C4C-F5E4-4C80-BE94-27A17D104036}" type="datetimeFigureOut">
              <a:rPr lang="zh-CN" altLang="en-US" smtClean="0"/>
              <a:t>2025/6/27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E9102-46F4-4F9E-B3A0-EDBAA5561A0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7239" y="347836"/>
            <a:ext cx="1440000" cy="439199"/>
          </a:xfrm>
          <a:prstGeom prst="rect">
            <a:avLst/>
          </a:prstGeom>
        </p:spPr>
      </p:pic>
      <p:sp>
        <p:nvSpPr>
          <p:cNvPr id="13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1285275"/>
            <a:ext cx="7308000" cy="38779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6858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0287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716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</a:t>
            </a:r>
            <a:r>
              <a:rPr kumimoji="1" lang="en-US" altLang="zh-CN" dirty="0"/>
              <a:t>PPT</a:t>
            </a:r>
            <a:r>
              <a:rPr kumimoji="1" lang="zh-CN" altLang="en-US" dirty="0"/>
              <a:t>标题</a:t>
            </a:r>
          </a:p>
        </p:txBody>
      </p:sp>
      <p:sp>
        <p:nvSpPr>
          <p:cNvPr id="14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805358"/>
            <a:ext cx="7308000" cy="2215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457200" rtl="0" eaLnBrk="1" latinLnBrk="0" hangingPunct="1">
              <a:buFontTx/>
              <a:buNone/>
              <a:defRPr kumimoji="1" lang="zh-CN" altLang="en-US" sz="1600" kern="1200" spc="150" dirty="0" smtClean="0">
                <a:solidFill>
                  <a:srgbClr val="CD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6858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0287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716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</a:t>
            </a:r>
            <a:r>
              <a:rPr kumimoji="1" lang="en-US" altLang="zh-CN" dirty="0"/>
              <a:t>PPT</a:t>
            </a:r>
            <a:r>
              <a:rPr kumimoji="1" lang="zh-CN" altLang="en-US" dirty="0"/>
              <a:t>副标题</a:t>
            </a:r>
          </a:p>
        </p:txBody>
      </p:sp>
      <p:sp>
        <p:nvSpPr>
          <p:cNvPr id="16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922373" y="4379618"/>
            <a:ext cx="7308000" cy="1661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457200" rtl="0" eaLnBrk="1" latinLnBrk="0" hangingPunct="1">
              <a:buFontTx/>
              <a:buNone/>
              <a:defRPr kumimoji="1" lang="zh-CN" altLang="en-US" sz="1200" kern="1200" spc="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6858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0287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716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单击此处添加汇报人信息</a:t>
            </a:r>
          </a:p>
        </p:txBody>
      </p:sp>
      <p:sp>
        <p:nvSpPr>
          <p:cNvPr id="19" name="图片占位符 17"/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2314575"/>
            <a:ext cx="8229600" cy="16770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kumimoji="1" lang="zh-CN" altLang="en-US" sz="1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kumimoji="1" lang="zh-CN" altLang="en-US" dirty="0"/>
              <a:t>单击中间的图片按钮插入</a:t>
            </a:r>
            <a:r>
              <a:rPr kumimoji="1" lang="en-US" altLang="zh-CN" dirty="0"/>
              <a:t>PPT</a:t>
            </a:r>
            <a:r>
              <a:rPr kumimoji="1" lang="zh-CN" altLang="en-US" dirty="0"/>
              <a:t>主题图片，使用裁剪工具可调整图片取景。建议选择简洁大气，与标题内容相符的图片。</a:t>
            </a:r>
          </a:p>
        </p:txBody>
      </p:sp>
      <p:pic>
        <p:nvPicPr>
          <p:cNvPr id="12" name="图片 11"/>
          <p:cNvPicPr/>
          <p:nvPr userDrawn="1"/>
        </p:nvPicPr>
        <p:blipFill rotWithShape="1">
          <a:blip r:embed="rId3"/>
          <a:srcRect r="269"/>
          <a:stretch>
            <a:fillRect/>
          </a:stretch>
        </p:blipFill>
        <p:spPr>
          <a:xfrm>
            <a:off x="914400" y="3991641"/>
            <a:ext cx="8229600" cy="136800"/>
          </a:xfrm>
          <a:prstGeom prst="rect">
            <a:avLst/>
          </a:prstGeom>
          <a:ln>
            <a:noFill/>
          </a:ln>
        </p:spPr>
      </p:pic>
      <p:sp>
        <p:nvSpPr>
          <p:cNvPr id="52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920830" y="4594915"/>
            <a:ext cx="7308000" cy="1661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457200" rtl="0" eaLnBrk="1" latinLnBrk="0" hangingPunct="1">
              <a:buFontTx/>
              <a:buNone/>
              <a:defRPr kumimoji="1" lang="zh-CN" altLang="en-US" sz="1200" kern="1200" spc="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6858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0287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71600" indent="0">
              <a:buFontTx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单击此处添加汇报时间信息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717737" y="531982"/>
            <a:ext cx="931458" cy="659088"/>
            <a:chOff x="719804" y="531982"/>
            <a:chExt cx="931458" cy="659088"/>
          </a:xfrm>
        </p:grpSpPr>
        <p:sp>
          <p:nvSpPr>
            <p:cNvPr id="17" name="文本框 16"/>
            <p:cNvSpPr txBox="1"/>
            <p:nvPr/>
          </p:nvSpPr>
          <p:spPr>
            <a:xfrm>
              <a:off x="719804" y="531982"/>
              <a:ext cx="931458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zh-CN" altLang="en-US" sz="2800" b="1" spc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</a:t>
              </a:r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69592" y="1007889"/>
              <a:ext cx="855902" cy="1831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dist"/>
              <a:r>
                <a:rPr kumimoji="1" lang="en-US" altLang="zh-CN" sz="1200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kumimoji="1"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0775" y="324000"/>
            <a:ext cx="1080000" cy="329400"/>
          </a:xfrm>
          <a:prstGeom prst="rect">
            <a:avLst/>
          </a:prstGeom>
        </p:spPr>
      </p:pic>
      <p:pic>
        <p:nvPicPr>
          <p:cNvPr id="10" name="图片 9"/>
          <p:cNvPicPr/>
          <p:nvPr userDrawn="1"/>
        </p:nvPicPr>
        <p:blipFill rotWithShape="1">
          <a:blip r:embed="rId3"/>
          <a:srcRect r="11111"/>
          <a:stretch>
            <a:fillRect/>
          </a:stretch>
        </p:blipFill>
        <p:spPr>
          <a:xfrm>
            <a:off x="1828801" y="1062294"/>
            <a:ext cx="7315199" cy="72000"/>
          </a:xfrm>
          <a:prstGeom prst="rect">
            <a:avLst/>
          </a:prstGeom>
        </p:spPr>
      </p:pic>
      <p:pic>
        <p:nvPicPr>
          <p:cNvPr id="11" name="图片 10"/>
          <p:cNvPicPr/>
          <p:nvPr userDrawn="1"/>
        </p:nvPicPr>
        <p:blipFill rotWithShape="1">
          <a:blip r:embed="rId3"/>
          <a:srcRect l="15123" r="78338"/>
          <a:stretch>
            <a:fillRect/>
          </a:stretch>
        </p:blipFill>
        <p:spPr>
          <a:xfrm>
            <a:off x="0" y="1062294"/>
            <a:ext cx="538132" cy="72000"/>
          </a:xfrm>
          <a:prstGeom prst="rect">
            <a:avLst/>
          </a:prstGeom>
        </p:spPr>
      </p:pic>
      <p:sp>
        <p:nvSpPr>
          <p:cNvPr id="2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965734" y="1962010"/>
            <a:ext cx="576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ts val="6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4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29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1649195" y="2109871"/>
            <a:ext cx="2520000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</a:t>
            </a:r>
          </a:p>
        </p:txBody>
      </p:sp>
      <p:sp>
        <p:nvSpPr>
          <p:cNvPr id="30" name="文本占位符 5"/>
          <p:cNvSpPr>
            <a:spLocks noGrp="1"/>
          </p:cNvSpPr>
          <p:nvPr>
            <p:ph type="body" sz="quarter" idx="12" hasCustomPrompt="1"/>
          </p:nvPr>
        </p:nvSpPr>
        <p:spPr>
          <a:xfrm>
            <a:off x="1649195" y="2377159"/>
            <a:ext cx="2520000" cy="54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单击此处添加目录标题描述</a:t>
            </a:r>
          </a:p>
        </p:txBody>
      </p:sp>
      <p:sp>
        <p:nvSpPr>
          <p:cNvPr id="31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965732" y="3282273"/>
            <a:ext cx="576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ts val="6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4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32" name="文本占位符 5"/>
          <p:cNvSpPr>
            <a:spLocks noGrp="1"/>
          </p:cNvSpPr>
          <p:nvPr>
            <p:ph type="body" sz="quarter" idx="14" hasCustomPrompt="1"/>
          </p:nvPr>
        </p:nvSpPr>
        <p:spPr>
          <a:xfrm>
            <a:off x="1649195" y="3444927"/>
            <a:ext cx="2520000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</a:t>
            </a:r>
          </a:p>
        </p:txBody>
      </p:sp>
      <p:sp>
        <p:nvSpPr>
          <p:cNvPr id="33" name="文本占位符 5"/>
          <p:cNvSpPr>
            <a:spLocks noGrp="1"/>
          </p:cNvSpPr>
          <p:nvPr>
            <p:ph type="body" sz="quarter" idx="15" hasCustomPrompt="1"/>
          </p:nvPr>
        </p:nvSpPr>
        <p:spPr>
          <a:xfrm>
            <a:off x="1649195" y="3707846"/>
            <a:ext cx="2520000" cy="54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单击此处添加目录标题描述</a:t>
            </a:r>
          </a:p>
        </p:txBody>
      </p:sp>
      <p:sp>
        <p:nvSpPr>
          <p:cNvPr id="3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4974807" y="1962010"/>
            <a:ext cx="576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ts val="6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4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35" name="文本占位符 5"/>
          <p:cNvSpPr>
            <a:spLocks noGrp="1"/>
          </p:cNvSpPr>
          <p:nvPr>
            <p:ph type="body" sz="quarter" idx="17" hasCustomPrompt="1"/>
          </p:nvPr>
        </p:nvSpPr>
        <p:spPr>
          <a:xfrm>
            <a:off x="5668658" y="2109871"/>
            <a:ext cx="2520000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</a:t>
            </a:r>
          </a:p>
        </p:txBody>
      </p:sp>
      <p:sp>
        <p:nvSpPr>
          <p:cNvPr id="36" name="文本占位符 5"/>
          <p:cNvSpPr>
            <a:spLocks noGrp="1"/>
          </p:cNvSpPr>
          <p:nvPr>
            <p:ph type="body" sz="quarter" idx="18" hasCustomPrompt="1"/>
          </p:nvPr>
        </p:nvSpPr>
        <p:spPr>
          <a:xfrm>
            <a:off x="5668658" y="2377160"/>
            <a:ext cx="2520000" cy="54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单击此处添加目录标题描述</a:t>
            </a:r>
          </a:p>
        </p:txBody>
      </p:sp>
      <p:sp>
        <p:nvSpPr>
          <p:cNvPr id="37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4974807" y="3282273"/>
            <a:ext cx="576000" cy="6840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685800" rtl="0" eaLnBrk="1" latinLnBrk="0" hangingPunct="1">
              <a:lnSpc>
                <a:spcPts val="6000"/>
              </a:lnSpc>
              <a:spcBef>
                <a:spcPts val="750"/>
              </a:spcBef>
              <a:buFont typeface="Arial" panose="020B0604020202020204" pitchFamily="34" charset="0"/>
              <a:buNone/>
              <a:defRPr kumimoji="1" lang="zh-CN" altLang="en-US" sz="4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charset="0"/>
                <a:ea typeface="Impact" panose="020B0806030902050204" charset="0"/>
                <a:cs typeface="Impact" panose="020B0806030902050204" charset="0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8" name="文本占位符 5"/>
          <p:cNvSpPr>
            <a:spLocks noGrp="1"/>
          </p:cNvSpPr>
          <p:nvPr>
            <p:ph type="body" sz="quarter" idx="20" hasCustomPrompt="1"/>
          </p:nvPr>
        </p:nvSpPr>
        <p:spPr>
          <a:xfrm>
            <a:off x="5668658" y="3444927"/>
            <a:ext cx="2520000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4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</a:t>
            </a:r>
          </a:p>
        </p:txBody>
      </p:sp>
      <p:sp>
        <p:nvSpPr>
          <p:cNvPr id="39" name="文本占位符 5"/>
          <p:cNvSpPr>
            <a:spLocks noGrp="1"/>
          </p:cNvSpPr>
          <p:nvPr>
            <p:ph type="body" sz="quarter" idx="21" hasCustomPrompt="1"/>
          </p:nvPr>
        </p:nvSpPr>
        <p:spPr>
          <a:xfrm>
            <a:off x="5668658" y="3707847"/>
            <a:ext cx="2520000" cy="5400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单击此处添加目录标题描述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431800" y="1153594"/>
            <a:ext cx="8280400" cy="36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685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028700" indent="0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71600" indent="0">
              <a:buFontTx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 userDrawn="1"/>
        </p:nvCxnSpPr>
        <p:spPr>
          <a:xfrm flipV="1">
            <a:off x="431800" y="862652"/>
            <a:ext cx="6641593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31800" y="351694"/>
            <a:ext cx="6840000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2A85DA-750B-4244-B638-160254EFC4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0775" y="324000"/>
            <a:ext cx="1080000" cy="3298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（双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31800" y="352800"/>
            <a:ext cx="6840000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单击此处添加正文标题中文</a:t>
            </a:r>
            <a:endParaRPr lang="en-US" dirty="0"/>
          </a:p>
        </p:txBody>
      </p:sp>
      <p:cxnSp>
        <p:nvCxnSpPr>
          <p:cNvPr id="10" name="直接连接符 15"/>
          <p:cNvCxnSpPr/>
          <p:nvPr userDrawn="1"/>
        </p:nvCxnSpPr>
        <p:spPr>
          <a:xfrm flipV="1">
            <a:off x="431800" y="1030146"/>
            <a:ext cx="6641593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431800" y="1349798"/>
            <a:ext cx="8280400" cy="34397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685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028700" indent="0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71600" indent="0">
              <a:buFontTx/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sp>
        <p:nvSpPr>
          <p:cNvPr id="1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0" y="694729"/>
            <a:ext cx="6840538" cy="184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单击此处添加正文标题英文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2A85DA-750B-4244-B638-160254EFC4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0775" y="324000"/>
            <a:ext cx="1080000" cy="3298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72769" y="2334150"/>
            <a:ext cx="3198462" cy="475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1" y="-450"/>
            <a:ext cx="9144002" cy="5144400"/>
            <a:chOff x="-2" y="-450"/>
            <a:chExt cx="9144002" cy="5144400"/>
          </a:xfrm>
        </p:grpSpPr>
        <p:cxnSp>
          <p:nvCxnSpPr>
            <p:cNvPr id="8" name="直线连接符 7"/>
            <p:cNvCxnSpPr/>
            <p:nvPr/>
          </p:nvCxnSpPr>
          <p:spPr>
            <a:xfrm>
              <a:off x="4572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/>
          </p:nvCxnSpPr>
          <p:spPr>
            <a:xfrm>
              <a:off x="9144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/>
          </p:nvCxnSpPr>
          <p:spPr>
            <a:xfrm>
              <a:off x="13716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/>
          </p:nvCxnSpPr>
          <p:spPr>
            <a:xfrm>
              <a:off x="18288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/>
            <p:cNvCxnSpPr/>
            <p:nvPr/>
          </p:nvCxnSpPr>
          <p:spPr>
            <a:xfrm>
              <a:off x="22860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/>
            <p:cNvCxnSpPr/>
            <p:nvPr/>
          </p:nvCxnSpPr>
          <p:spPr>
            <a:xfrm>
              <a:off x="27432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/>
            <p:cNvCxnSpPr/>
            <p:nvPr/>
          </p:nvCxnSpPr>
          <p:spPr>
            <a:xfrm>
              <a:off x="32004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>
              <a:off x="36576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/>
            <p:cNvCxnSpPr/>
            <p:nvPr/>
          </p:nvCxnSpPr>
          <p:spPr>
            <a:xfrm>
              <a:off x="41148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/>
            <p:cNvCxnSpPr/>
            <p:nvPr/>
          </p:nvCxnSpPr>
          <p:spPr>
            <a:xfrm>
              <a:off x="45720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/>
            <p:cNvCxnSpPr/>
            <p:nvPr/>
          </p:nvCxnSpPr>
          <p:spPr>
            <a:xfrm>
              <a:off x="50292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连接符 18"/>
            <p:cNvCxnSpPr/>
            <p:nvPr/>
          </p:nvCxnSpPr>
          <p:spPr>
            <a:xfrm>
              <a:off x="54864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线连接符 19"/>
            <p:cNvCxnSpPr/>
            <p:nvPr/>
          </p:nvCxnSpPr>
          <p:spPr>
            <a:xfrm>
              <a:off x="59436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/>
            <p:cNvCxnSpPr/>
            <p:nvPr/>
          </p:nvCxnSpPr>
          <p:spPr>
            <a:xfrm>
              <a:off x="64008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/>
            <p:cNvCxnSpPr/>
            <p:nvPr/>
          </p:nvCxnSpPr>
          <p:spPr>
            <a:xfrm>
              <a:off x="68580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/>
            <p:cNvCxnSpPr/>
            <p:nvPr/>
          </p:nvCxnSpPr>
          <p:spPr>
            <a:xfrm>
              <a:off x="73152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/>
            <p:cNvCxnSpPr/>
            <p:nvPr/>
          </p:nvCxnSpPr>
          <p:spPr>
            <a:xfrm>
              <a:off x="77724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/>
            <p:cNvCxnSpPr/>
            <p:nvPr/>
          </p:nvCxnSpPr>
          <p:spPr>
            <a:xfrm>
              <a:off x="82296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/>
            <p:cNvCxnSpPr/>
            <p:nvPr/>
          </p:nvCxnSpPr>
          <p:spPr>
            <a:xfrm>
              <a:off x="8686800" y="-450"/>
              <a:ext cx="0" cy="5144400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/>
            <p:cNvCxnSpPr/>
            <p:nvPr/>
          </p:nvCxnSpPr>
          <p:spPr>
            <a:xfrm rot="5400000">
              <a:off x="4571999" y="-431482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27"/>
            <p:cNvCxnSpPr/>
            <p:nvPr/>
          </p:nvCxnSpPr>
          <p:spPr>
            <a:xfrm rot="5400000">
              <a:off x="4571999" y="-405765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/>
            <p:cNvCxnSpPr/>
            <p:nvPr/>
          </p:nvCxnSpPr>
          <p:spPr>
            <a:xfrm rot="5400000">
              <a:off x="4571999" y="-380047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29"/>
            <p:cNvCxnSpPr/>
            <p:nvPr/>
          </p:nvCxnSpPr>
          <p:spPr>
            <a:xfrm rot="5400000">
              <a:off x="4571999" y="-354330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/>
            <p:cNvCxnSpPr/>
            <p:nvPr/>
          </p:nvCxnSpPr>
          <p:spPr>
            <a:xfrm rot="5400000">
              <a:off x="4571999" y="-328612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线连接符 31"/>
            <p:cNvCxnSpPr/>
            <p:nvPr/>
          </p:nvCxnSpPr>
          <p:spPr>
            <a:xfrm rot="5400000">
              <a:off x="4571999" y="-302895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/>
            <p:cNvCxnSpPr/>
            <p:nvPr/>
          </p:nvCxnSpPr>
          <p:spPr>
            <a:xfrm rot="5400000">
              <a:off x="4571999" y="-277177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线连接符 33"/>
            <p:cNvCxnSpPr/>
            <p:nvPr/>
          </p:nvCxnSpPr>
          <p:spPr>
            <a:xfrm rot="5400000">
              <a:off x="4571999" y="-251460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连接符 34"/>
            <p:cNvCxnSpPr/>
            <p:nvPr/>
          </p:nvCxnSpPr>
          <p:spPr>
            <a:xfrm rot="5400000">
              <a:off x="4571999" y="-225742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线连接符 35"/>
            <p:cNvCxnSpPr/>
            <p:nvPr/>
          </p:nvCxnSpPr>
          <p:spPr>
            <a:xfrm rot="5400000">
              <a:off x="4571999" y="-200025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/>
            <p:cNvCxnSpPr/>
            <p:nvPr/>
          </p:nvCxnSpPr>
          <p:spPr>
            <a:xfrm rot="5400000">
              <a:off x="4571999" y="-174307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/>
            <p:cNvCxnSpPr/>
            <p:nvPr/>
          </p:nvCxnSpPr>
          <p:spPr>
            <a:xfrm rot="5400000">
              <a:off x="4571999" y="-148590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/>
            <p:cNvCxnSpPr/>
            <p:nvPr/>
          </p:nvCxnSpPr>
          <p:spPr>
            <a:xfrm rot="5400000">
              <a:off x="4571999" y="-122872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/>
            <p:cNvCxnSpPr/>
            <p:nvPr/>
          </p:nvCxnSpPr>
          <p:spPr>
            <a:xfrm rot="5400000">
              <a:off x="4571999" y="-97155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线连接符 40"/>
            <p:cNvCxnSpPr/>
            <p:nvPr/>
          </p:nvCxnSpPr>
          <p:spPr>
            <a:xfrm rot="5400000">
              <a:off x="4571999" y="-71437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线连接符 41"/>
            <p:cNvCxnSpPr/>
            <p:nvPr/>
          </p:nvCxnSpPr>
          <p:spPr>
            <a:xfrm rot="5400000">
              <a:off x="4571999" y="-457201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连接符 42"/>
            <p:cNvCxnSpPr/>
            <p:nvPr/>
          </p:nvCxnSpPr>
          <p:spPr>
            <a:xfrm rot="5400000">
              <a:off x="4571999" y="-200026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线连接符 43"/>
            <p:cNvCxnSpPr/>
            <p:nvPr/>
          </p:nvCxnSpPr>
          <p:spPr>
            <a:xfrm rot="5400000">
              <a:off x="4571999" y="57149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线连接符 44"/>
            <p:cNvCxnSpPr/>
            <p:nvPr/>
          </p:nvCxnSpPr>
          <p:spPr>
            <a:xfrm rot="5400000">
              <a:off x="4571999" y="314324"/>
              <a:ext cx="0" cy="9144002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GSEDS_d46a6755_38f97e1c_1_3"/>
          <p:cNvSpPr txBox="1">
            <a:spLocks noChangeAspect="1"/>
          </p:cNvSpPr>
          <p:nvPr userDrawn="1"/>
        </p:nvSpPr>
        <p:spPr>
          <a:xfrm rot="18900000">
            <a:off x="1645558" y="2194499"/>
            <a:ext cx="5852884" cy="754502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zh-CN" sz="3400" b="0" i="0" u="none" normalizeH="0" smtClean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393284  da hua  2025-06-27</a:t>
            </a:r>
            <a:endParaRPr kumimoji="0" lang="zh-CN" altLang="en-US" sz="3400" b="0" i="0" u="none" normalizeH="0" dirty="0" smtClean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12" Type="http://schemas.openxmlformats.org/officeDocument/2006/relationships/image" Target="../media/image23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17.png"/><Relationship Id="rId11" Type="http://schemas.openxmlformats.org/officeDocument/2006/relationships/image" Target="../media/image22.jpeg"/><Relationship Id="rId5" Type="http://schemas.openxmlformats.org/officeDocument/2006/relationships/image" Target="../media/image16.png"/><Relationship Id="rId10" Type="http://schemas.openxmlformats.org/officeDocument/2006/relationships/image" Target="../media/image21.jpeg"/><Relationship Id="rId4" Type="http://schemas.openxmlformats.org/officeDocument/2006/relationships/image" Target="../media/image15.png"/><Relationship Id="rId9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1800" y="351913"/>
            <a:ext cx="6840000" cy="307340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2025</a:t>
            </a:r>
            <a:r>
              <a:rPr lang="zh-CN" altLang="en-US" dirty="0" smtClean="0">
                <a:solidFill>
                  <a:schemeClr val="bg1"/>
                </a:solidFill>
              </a:rPr>
              <a:t>重点项目</a:t>
            </a:r>
            <a:r>
              <a:rPr lang="en-US" altLang="zh-CN" dirty="0" smtClean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华</a:t>
            </a:r>
            <a:r>
              <a:rPr lang="zh-CN" altLang="en-US" dirty="0" smtClean="0">
                <a:solidFill>
                  <a:schemeClr val="bg1"/>
                </a:solidFill>
              </a:rPr>
              <a:t>消智慧物流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3528" y="1419622"/>
            <a:ext cx="254635" cy="1843405"/>
          </a:xfrm>
          <a:prstGeom prst="rect">
            <a:avLst/>
          </a:prstGeom>
          <a:noFill/>
          <a:ln w="25400" cmpd="sng">
            <a:solidFill>
              <a:schemeClr val="bg1"/>
            </a:solidFill>
            <a:prstDash val="sysDash"/>
          </a:ln>
        </p:spPr>
        <p:txBody>
          <a:bodyPr vert="eaVert" wrap="square" lIns="144000" rIns="7200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917675" y="1423896"/>
            <a:ext cx="254635" cy="1843405"/>
          </a:xfrm>
          <a:prstGeom prst="rect">
            <a:avLst/>
          </a:prstGeom>
          <a:noFill/>
          <a:ln w="25400" cmpd="sng">
            <a:solidFill>
              <a:schemeClr val="bg1"/>
            </a:solidFill>
            <a:prstDash val="sysDash"/>
          </a:ln>
        </p:spPr>
        <p:txBody>
          <a:bodyPr vert="eaVert" wrap="square" lIns="14400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9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72003" y="2680302"/>
            <a:ext cx="2160037" cy="577081"/>
          </a:xfrm>
          <a:prstGeom prst="rect">
            <a:avLst/>
          </a:prstGeom>
          <a:noFill/>
          <a:ln>
            <a:solidFill>
              <a:schemeClr val="bg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注塑件由人工送往华消车间，按工单二次分拣；</a:t>
            </a:r>
            <a:endParaRPr lang="en-US" altLang="zh-CN" sz="7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单板由人工拉至车间再按工单进行二次分拣；</a:t>
            </a:r>
            <a:endParaRPr lang="en-US" altLang="zh-CN" sz="7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7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包材由人工分拣配送至各个线体；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31800" y="910831"/>
            <a:ext cx="8244656" cy="30617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通过智能备料系统</a:t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设备，实现华消</a:t>
            </a:r>
            <a:r>
              <a:rPr lang="zh-CN" altLang="zh-CN" sz="10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注塑</a:t>
            </a:r>
            <a:r>
              <a:rPr lang="zh-CN" altLang="en-US" sz="10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件，包材件以及单板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</a:t>
            </a:r>
            <a:r>
              <a:rPr lang="zh-CN" altLang="zh-CN" sz="10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工序</a:t>
            </a:r>
            <a:r>
              <a:rPr lang="zh-CN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工单维度备料分拣完成，</a:t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AGV</a:t>
            </a:r>
            <a:r>
              <a:rPr lang="zh-CN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配送到华消线体的智慧物流模式</a:t>
            </a:r>
            <a:r>
              <a:rPr lang="zh-CN" altLang="en-US" sz="10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58" y="1482836"/>
            <a:ext cx="911699" cy="107651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438" y="1419622"/>
            <a:ext cx="687156" cy="58899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9081" y="1419622"/>
            <a:ext cx="733308" cy="59600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1439" y="2051085"/>
            <a:ext cx="731889" cy="62733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0784" y="2051085"/>
            <a:ext cx="674135" cy="63969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7763" y="2746271"/>
            <a:ext cx="687156" cy="52103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1794" y="2756381"/>
            <a:ext cx="747883" cy="51833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8024" y="1419622"/>
            <a:ext cx="1657850" cy="1861446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4851940" y="2859782"/>
            <a:ext cx="50405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 smtClean="0">
                <a:solidFill>
                  <a:schemeClr val="tx1"/>
                </a:solidFill>
              </a:rPr>
              <a:t>注塑区</a:t>
            </a:r>
            <a:endParaRPr lang="zh-CN" altLang="en-US" sz="800" b="1" dirty="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471556" y="1468583"/>
            <a:ext cx="460504" cy="2390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b="1" dirty="0" smtClean="0">
                <a:solidFill>
                  <a:schemeClr val="tx1"/>
                </a:solidFill>
              </a:rPr>
              <a:t>包材区</a:t>
            </a:r>
            <a:endParaRPr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958715" y="1460639"/>
            <a:ext cx="460504" cy="2390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700" b="1" dirty="0">
                <a:solidFill>
                  <a:schemeClr val="tx1"/>
                </a:solidFill>
              </a:rPr>
              <a:t>单板</a:t>
            </a:r>
            <a:r>
              <a:rPr lang="zh-CN" altLang="en-US" sz="700" b="1" dirty="0" smtClean="0">
                <a:solidFill>
                  <a:schemeClr val="tx1"/>
                </a:solidFill>
              </a:rPr>
              <a:t>区</a:t>
            </a:r>
            <a:endParaRPr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553545" y="1419622"/>
            <a:ext cx="2186827" cy="1754326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华消注塑件实现整散模式仓库管理，实现料到人分拣作业，工序工单备料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AGV</a:t>
            </a:r>
            <a:r>
              <a:rPr lang="zh-CN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出库到线的作业模式</a:t>
            </a:r>
            <a:r>
              <a:rPr lang="zh-CN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</a:t>
            </a:r>
            <a:r>
              <a:rPr lang="zh-CN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消包材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JIT</a:t>
            </a:r>
            <a:r>
              <a:rPr lang="zh-CN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物料来料后按单备料上架，车间按单叫料出库配送到线</a:t>
            </a:r>
            <a:endParaRPr lang="en-US" altLang="zh-CN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华消单板按单备料上架，送至华消单板区，车间按单叫料出库配送到线</a:t>
            </a:r>
            <a:endParaRPr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51520" y="1275606"/>
            <a:ext cx="8640960" cy="2160240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51520" y="3533929"/>
            <a:ext cx="8640960" cy="1512553"/>
          </a:xfrm>
          <a:prstGeom prst="rect">
            <a:avLst/>
          </a:prstGeom>
          <a:noFill/>
          <a:ln cap="flat">
            <a:solidFill>
              <a:schemeClr val="bg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66086" y="3556717"/>
            <a:ext cx="1874724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华消注塑件智能物流项目落地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687822" y="3556717"/>
            <a:ext cx="1874724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华消单板智能物流项目落地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189244" y="3556717"/>
            <a:ext cx="1874724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华消包材智能物流项目落地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43236" y="3852695"/>
            <a:ext cx="2520423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备料场地及车间调整实施完成，工单级备料与出库已运行</a:t>
            </a: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智能备料系统调试中待上线，预计分拣备料效率提升</a:t>
            </a:r>
            <a:r>
              <a:rPr lang="en-US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智能备料系统导入预计节省</a:t>
            </a:r>
            <a:r>
              <a:rPr lang="en-US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人力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411637" y="3839403"/>
            <a:ext cx="2520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板场地规划实施完成</a:t>
            </a: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板现采用</a:t>
            </a:r>
            <a:r>
              <a:rPr lang="en-US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AGV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点对点方式配送到线</a:t>
            </a: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华消单板智能备料系统软件调试中，待上线可提升现有单板分拣效率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848883" y="3807419"/>
            <a:ext cx="2520423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包材场地实施完成，现场目视化提高</a:t>
            </a:r>
            <a:r>
              <a:rPr lang="en-US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实现华消包材出库模式切换为</a:t>
            </a:r>
            <a:r>
              <a:rPr lang="en-US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AGV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送料到线的配送模式</a:t>
            </a: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优化配送物料人员</a:t>
            </a:r>
            <a:r>
              <a:rPr lang="en-US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人，同时提升物流配送效率</a:t>
            </a:r>
            <a:r>
              <a:rPr lang="en-US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endParaRPr lang="zh-CN" altLang="en-US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47786" y="1471909"/>
            <a:ext cx="1028953" cy="1087441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353528" y="3720133"/>
            <a:ext cx="254635" cy="1161870"/>
          </a:xfrm>
          <a:prstGeom prst="rect">
            <a:avLst/>
          </a:prstGeom>
          <a:noFill/>
          <a:ln w="25400" cmpd="sng">
            <a:solidFill>
              <a:schemeClr val="bg1"/>
            </a:solidFill>
            <a:prstDash val="sysDash"/>
          </a:ln>
        </p:spPr>
        <p:txBody>
          <a:bodyPr vert="eaVert" wrap="square" lIns="14400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endParaRPr lang="zh-CN" altLang="en-US" sz="9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1800" y="351913"/>
            <a:ext cx="6840000" cy="307340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2025</a:t>
            </a:r>
            <a:r>
              <a:rPr lang="zh-CN" altLang="en-US" dirty="0" smtClean="0">
                <a:solidFill>
                  <a:schemeClr val="bg1"/>
                </a:solidFill>
              </a:rPr>
              <a:t>重点项目</a:t>
            </a:r>
            <a:r>
              <a:rPr lang="en-US" altLang="zh-CN" dirty="0" smtClean="0">
                <a:solidFill>
                  <a:schemeClr val="bg1"/>
                </a:solidFill>
              </a:rPr>
              <a:t>-</a:t>
            </a:r>
            <a:r>
              <a:rPr lang="zh-CN" altLang="en-US" dirty="0" smtClean="0">
                <a:solidFill>
                  <a:schemeClr val="bg1"/>
                </a:solidFill>
              </a:rPr>
              <a:t>前端，行业结构件跨楼层配送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3528" y="1524656"/>
            <a:ext cx="254635" cy="1588911"/>
          </a:xfrm>
          <a:prstGeom prst="rect">
            <a:avLst/>
          </a:prstGeom>
          <a:noFill/>
          <a:ln w="12700" cmpd="sng">
            <a:solidFill>
              <a:schemeClr val="bg1">
                <a:alpha val="68000"/>
              </a:schemeClr>
            </a:solidFill>
            <a:prstDash val="sysDash"/>
          </a:ln>
        </p:spPr>
        <p:txBody>
          <a:bodyPr vert="eaVert" wrap="square" lIns="144000" rIns="7200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项目背景</a:t>
            </a:r>
          </a:p>
        </p:txBody>
      </p:sp>
      <p:pic>
        <p:nvPicPr>
          <p:cNvPr id="1025" name="Picture 1" descr="https://dingtalk-weboffice-inner.oss-cn-hangzhou.aliyuncs.com/shapes%2F176275192773%2Fdb5ef485b6e7de31000d418afba423219ee11f10?Expires=1751155199&amp;OSSAccessKeyId=LTAISvmqSOedG4we&amp;Signature=9B4s2tqCHflMlO40AMLi%2BFCoXsI%3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19" y="1523286"/>
            <a:ext cx="934972" cy="7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dingtalk-weboffice-inner.oss-cn-hangzhou.aliyuncs.com/shapes%2F176275192773%2Ffe76bdf3f6e8a765b19d4f201b9f995eb16eb525?Expires=1751155199&amp;OSSAccessKeyId=LTAISvmqSOedG4we&amp;Signature=59cKbwHprLQHFyYHSiw7ZqTIRTM%3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71" y="2392490"/>
            <a:ext cx="924320" cy="72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https://dingtalk-weboffice-inner.oss-cn-hangzhou.aliyuncs.com/shapes%2F176275192773%2F0796ec7c7bc3fb51234bad0df20f11d9e03a915b?Expires=1751155199&amp;OSSAccessKeyId=LTAISvmqSOedG4we&amp;Signature=qQRem%2BQZr1GiTitaYTnKQEVUPGQ%3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653" y="1519267"/>
            <a:ext cx="1006930" cy="799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dingtalk-weboffice-inner.oss-cn-hangzhou.aliyuncs.com/shapes%2F176275192773%2F0a2febdb6df19aef322e3b5bc7359718733fc583?Expires=1751155199&amp;OSSAccessKeyId=LTAISvmqSOedG4we&amp;Signature=4S00y%2Be9O%2Bb9OzU9apqAhF%2BxpNU%3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492" y="2378907"/>
            <a:ext cx="1001091" cy="748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矩形 35"/>
          <p:cNvSpPr/>
          <p:nvPr/>
        </p:nvSpPr>
        <p:spPr>
          <a:xfrm>
            <a:off x="353528" y="3186944"/>
            <a:ext cx="2361055" cy="1539602"/>
          </a:xfrm>
          <a:prstGeom prst="rect">
            <a:avLst/>
          </a:prstGeom>
          <a:noFill/>
          <a:ln w="12700">
            <a:solidFill>
              <a:schemeClr val="bg1">
                <a:alpha val="62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050" dirty="0"/>
              <a:t>整机结构传输线配送至产线因流量较大，易产生拥堵，影响配送效率</a:t>
            </a:r>
            <a:r>
              <a:rPr lang="zh-CN" altLang="en-US" sz="1050" dirty="0" smtClean="0"/>
              <a:t>；</a:t>
            </a:r>
            <a:endParaRPr lang="en-US" altLang="zh-CN" sz="105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050" dirty="0" smtClean="0"/>
              <a:t>物料</a:t>
            </a:r>
            <a:r>
              <a:rPr lang="zh-CN" altLang="en-US" sz="1050" dirty="0"/>
              <a:t>容易输送丢失</a:t>
            </a:r>
            <a:r>
              <a:rPr lang="zh-CN" altLang="en-US" sz="1050" dirty="0" smtClean="0"/>
              <a:t>；</a:t>
            </a:r>
            <a:endParaRPr lang="en-US" altLang="zh-CN" sz="105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050" dirty="0" smtClean="0"/>
              <a:t>传输</a:t>
            </a:r>
            <a:r>
              <a:rPr lang="zh-CN" altLang="en-US" sz="1050" dirty="0"/>
              <a:t>时多工单物料同时到料车间不易区分</a:t>
            </a:r>
            <a:r>
              <a:rPr lang="zh-CN" altLang="en-US" sz="1050" dirty="0" smtClean="0"/>
              <a:t>；</a:t>
            </a:r>
            <a:endParaRPr lang="en-US" altLang="zh-CN" sz="105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050" dirty="0" smtClean="0"/>
              <a:t>车间</a:t>
            </a:r>
            <a:r>
              <a:rPr lang="zh-CN" altLang="en-US" sz="1050" dirty="0"/>
              <a:t>接料现场散乱，物料不能及时找到</a:t>
            </a:r>
            <a:r>
              <a:rPr lang="zh-CN" altLang="en-US" sz="1050" dirty="0" smtClean="0"/>
              <a:t>；</a:t>
            </a:r>
            <a:endParaRPr lang="en-US" altLang="zh-CN" sz="105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050" dirty="0" smtClean="0"/>
              <a:t>输出</a:t>
            </a:r>
            <a:r>
              <a:rPr lang="zh-CN" altLang="en-US" sz="1050" dirty="0"/>
              <a:t>线颠簸，物料容易错位导致划伤；</a:t>
            </a:r>
          </a:p>
        </p:txBody>
      </p:sp>
      <p:sp>
        <p:nvSpPr>
          <p:cNvPr id="46" name="文本框 45"/>
          <p:cNvSpPr txBox="1"/>
          <p:nvPr>
            <p:custDataLst>
              <p:tags r:id="rId1"/>
            </p:custDataLst>
          </p:nvPr>
        </p:nvSpPr>
        <p:spPr>
          <a:xfrm>
            <a:off x="2856946" y="1444111"/>
            <a:ext cx="254635" cy="3276452"/>
          </a:xfrm>
          <a:prstGeom prst="rect">
            <a:avLst/>
          </a:prstGeom>
          <a:noFill/>
          <a:ln w="12700" cmpd="sng">
            <a:solidFill>
              <a:schemeClr val="bg1">
                <a:alpha val="69000"/>
              </a:schemeClr>
            </a:solidFill>
            <a:prstDash val="sysDash"/>
          </a:ln>
        </p:spPr>
        <p:txBody>
          <a:bodyPr vert="eaVert" wrap="square" lIns="14400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9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99" y="1517678"/>
            <a:ext cx="737800" cy="60936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468" y="1523945"/>
            <a:ext cx="720829" cy="580572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177" y="1517678"/>
            <a:ext cx="735455" cy="600937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462" y="1490920"/>
            <a:ext cx="808325" cy="605902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121" y="1513762"/>
            <a:ext cx="801475" cy="600937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12" y="1496248"/>
            <a:ext cx="808344" cy="606087"/>
          </a:xfrm>
          <a:prstGeom prst="rect">
            <a:avLst/>
          </a:prstGeom>
        </p:spPr>
      </p:pic>
      <p:sp>
        <p:nvSpPr>
          <p:cNvPr id="48" name="矩形 47"/>
          <p:cNvSpPr/>
          <p:nvPr/>
        </p:nvSpPr>
        <p:spPr>
          <a:xfrm>
            <a:off x="3228400" y="1433374"/>
            <a:ext cx="2668454" cy="3291583"/>
          </a:xfrm>
          <a:prstGeom prst="rect">
            <a:avLst/>
          </a:prstGeom>
          <a:noFill/>
          <a:ln>
            <a:solidFill>
              <a:schemeClr val="bg1">
                <a:alpha val="69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6013553" y="1433374"/>
            <a:ext cx="2734261" cy="3291583"/>
          </a:xfrm>
          <a:prstGeom prst="rect">
            <a:avLst/>
          </a:prstGeom>
          <a:noFill/>
          <a:ln>
            <a:solidFill>
              <a:schemeClr val="bg1">
                <a:alpha val="69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3292854" y="3523527"/>
            <a:ext cx="2539546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行业二部部场地规划实施完成</a:t>
            </a: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结构件跨楼层配送到线任务模板测试完成</a:t>
            </a: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车间部门线体叫料到线配送模式运行中</a:t>
            </a: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结构件配送到线模式导入，预计可节省物料下架员</a:t>
            </a:r>
            <a:r>
              <a:rPr lang="en-US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en-US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132727" y="3489112"/>
            <a:ext cx="257443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前端三部部场地规划实施完成</a:t>
            </a: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结构件跨楼层配送到线任务模板测试完成</a:t>
            </a: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车间叫料</a:t>
            </a:r>
            <a:r>
              <a:rPr lang="en-US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AGV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配送到车间模式已投入运行</a:t>
            </a:r>
            <a:endParaRPr lang="en-US" altLang="zh-CN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减少配送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物流岗位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zh-CN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物流配送效率提升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，实现线体级精准配送</a:t>
            </a:r>
            <a:endParaRPr lang="en-US" altLang="zh-CN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en-US" sz="9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466877" y="3200363"/>
            <a:ext cx="21915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行业工厂结构件配送到线项目落地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307875" y="3200362"/>
            <a:ext cx="21915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</a:t>
            </a:r>
            <a:r>
              <a:rPr lang="zh-CN" altLang="en-US" sz="1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工厂结构件配送到线项目落地</a:t>
            </a:r>
          </a:p>
        </p:txBody>
      </p:sp>
      <p:sp>
        <p:nvSpPr>
          <p:cNvPr id="51" name="矩形 50"/>
          <p:cNvSpPr/>
          <p:nvPr/>
        </p:nvSpPr>
        <p:spPr>
          <a:xfrm>
            <a:off x="251520" y="1347606"/>
            <a:ext cx="8712968" cy="3481427"/>
          </a:xfrm>
          <a:prstGeom prst="rect">
            <a:avLst/>
          </a:prstGeom>
          <a:noFill/>
          <a:ln>
            <a:gradFill>
              <a:gsLst>
                <a:gs pos="0">
                  <a:schemeClr val="bg1">
                    <a:lumMod val="8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443372" y="2262935"/>
            <a:ext cx="2171657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通过智慧物流实现整机备料自动化搬运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系统管理，确保物料信息在搬运上架过程中实时上线，提高数据准确性和传递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效率，保证</a:t>
            </a: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生产线的平稳运行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307875" y="2264714"/>
            <a:ext cx="228195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AGV</a:t>
            </a: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自动化搬运系统实现点胶备料的全区域自动出入库、配料到线，减少人工搬运，提升作业效率，推动从“人找料”到“料找人”的信息化备料模式转型。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77664" y="937747"/>
            <a:ext cx="8460680" cy="306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通过跨环境与电梯的协同配合，</a:t>
            </a:r>
            <a:r>
              <a:rPr lang="zh-CN" altLang="en-US" sz="10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打通二楼备料到三楼车间的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路线，</a:t>
            </a:r>
            <a:r>
              <a:rPr lang="zh-CN" altLang="en-US" sz="105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配合上层系统使物料直达车间目标</a:t>
            </a:r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endParaRPr lang="zh-CN" altLang="en-US" sz="105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56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dab7e93-3a53-4548-9aad-acb5fb16f791"/>
  <p:tag name="COMMONDATA" val="eyJoZGlkIjoiZjM5N2IzNmEyMGUzOTVkYmE1YzIwNGZmODk4MDRlZD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10836</TotalTime>
  <Words>623</Words>
  <Application>Microsoft Office PowerPoint</Application>
  <PresentationFormat>全屏显示(16:9)</PresentationFormat>
  <Paragraphs>47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宋体</vt:lpstr>
      <vt:lpstr>微软雅黑</vt:lpstr>
      <vt:lpstr>Arial</vt:lpstr>
      <vt:lpstr>Calibri</vt:lpstr>
      <vt:lpstr>Impact</vt:lpstr>
      <vt:lpstr>Wingdings</vt:lpstr>
      <vt:lpstr>Office 主题​​</vt:lpstr>
      <vt:lpstr>2025重点项目-华消智慧物流</vt:lpstr>
      <vt:lpstr>2025重点项目-前端，行业结构件跨楼层配送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HTTP一期总结</dc:title>
  <dc:creator>29193</dc:creator>
  <cp:lastModifiedBy>宋龚1</cp:lastModifiedBy>
  <cp:revision>1501</cp:revision>
  <dcterms:created xsi:type="dcterms:W3CDTF">2016-04-12T01:54:00Z</dcterms:created>
  <dcterms:modified xsi:type="dcterms:W3CDTF">2025-06-27T03:09:46Z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SEDS_HWMT_d46a6755">
    <vt:lpwstr>f244c78f_mFV3xz84JCk0OcpOkHv9p1aohZc=_8QYrr15fIzUrPdNMk3n5s9YOO4xXQxhsAP3i/GOefHM9z6JaROZPkiMaio3r9jGw6wkAbPSkGpFF5LlWKw3omxhJ/BbV_a503f47c</vt:lpwstr>
  </property>
  <property fmtid="{D5CDD505-2E9C-101B-9397-08002B2CF9AE}" pid="3" name="GSEDS_TWMT">
    <vt:lpwstr>d46a6755_b77b54e0_38f97e1c9d84c04b46183acbf77e985df10fbf1d7571f6557012c485d032a191</vt:lpwstr>
  </property>
  <property fmtid="{D5CDD505-2E9C-101B-9397-08002B2CF9AE}" pid="4" name="ICV">
    <vt:lpwstr>7CC47021DF564B49BBE852310AEEAF7B_13</vt:lpwstr>
  </property>
  <property fmtid="{D5CDD505-2E9C-101B-9397-08002B2CF9AE}" pid="5" name="KSOProductBuildVer">
    <vt:lpwstr>2052-11.1.0.15319</vt:lpwstr>
  </property>
</Properties>
</file>